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3" r:id="rId4"/>
    <p:sldId id="259" r:id="rId5"/>
    <p:sldId id="260" r:id="rId6"/>
    <p:sldId id="274" r:id="rId7"/>
    <p:sldId id="261" r:id="rId8"/>
    <p:sldId id="262" r:id="rId9"/>
    <p:sldId id="275" r:id="rId10"/>
    <p:sldId id="263" r:id="rId11"/>
    <p:sldId id="264" r:id="rId12"/>
    <p:sldId id="276" r:id="rId13"/>
    <p:sldId id="265" r:id="rId14"/>
    <p:sldId id="266" r:id="rId15"/>
    <p:sldId id="277" r:id="rId16"/>
    <p:sldId id="267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145" d="100"/>
          <a:sy n="145" d="100"/>
        </p:scale>
        <p:origin x="122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363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CDDB0-E30A-0569-6A12-4959E844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60299-6543-A8DF-0C3C-BFEADDD37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F3595-7FC8-D352-A597-421F62940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3E323-A910-0BA2-43AE-83EAF57BFD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56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6200F-54A7-E93F-CDD4-474D6123D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DBB87-B862-00D2-8280-205995ECD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E9094-0B42-7EF5-81C6-8EEC97C4A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10CF0-C468-61B7-F48D-BB9B7A6157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60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D1589-3CC7-2731-1D35-4770FD9D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EC9CD-D508-DEF3-C135-06B4DD86C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10DE1-0339-0F0E-2496-54BC21252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8523-FAF4-BA71-9E99-3B7F9B20C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47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069B-0A0E-E64C-08D7-F71E9DF1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84AA2-270D-7D19-7071-8857F39D2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62C9F-E1C0-FE76-4B9F-B2ADE31C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5FF7E-DD05-893B-FD6D-EBE6E37A4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66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EE0D-596F-17E8-935E-033324350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0FF91-9A4F-BC54-2E32-BA06E1D6B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70DD4-EC73-B809-AFEA-A4EDC6977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D27D9-6A0C-32D5-2A01-E831CDB00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46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AMD High-Level Processes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8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Work Products &amp; Activities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45720"/>
          </a:xfrm>
          <a:prstGeom prst="rect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E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Offices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Business Intelligence Services Office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Collaboration Services Office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Financial Surveillance Services Office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Internal Support Services Office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Payment &amp; Operations Services Office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0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8BB9E-C019-D0F5-4F41-16C1405D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46ED39-C571-D250-FBE5-FE7711522B99}"/>
              </a:ext>
            </a:extLst>
          </p:cNvPr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AMD Business Intelligence Service Office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05FA33-1162-9F0E-6C91-2D6AB7C72C84}"/>
              </a:ext>
            </a:extLst>
          </p:cNvPr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8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Work Products &amp; Activities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9786A4-618B-583B-CBEE-527C2F07E567}"/>
              </a:ext>
            </a:extLst>
          </p:cNvPr>
          <p:cNvSpPr/>
          <p:nvPr/>
        </p:nvSpPr>
        <p:spPr>
          <a:xfrm>
            <a:off x="731520" y="3017520"/>
            <a:ext cx="2286000" cy="45720"/>
          </a:xfrm>
          <a:prstGeom prst="rect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070FC5-704D-DF40-F29E-5DF3E24E28E6}"/>
              </a:ext>
            </a:extLst>
          </p:cNvPr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E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Offices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7521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Processes: Application Management Division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6576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27432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210312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1325880"/>
            <a:ext cx="201168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Facillitate effective Requirements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325880"/>
            <a:ext cx="182880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834640" y="1325880"/>
            <a:ext cx="173736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Facillitate effective Requirements Analysis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20624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63440" y="1325880"/>
            <a:ext cx="411480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Analyze approved requirements and solution architecture documents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business and techincal Requirements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solution analysis report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020824"/>
            <a:ext cx="36576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" y="2020824"/>
            <a:ext cx="27432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020824"/>
            <a:ext cx="210312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1520" y="2020824"/>
            <a:ext cx="201168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systems/solutions that consistently meet business requirements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020824"/>
            <a:ext cx="182880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834640" y="2020824"/>
            <a:ext cx="173736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systems/solutions that consistently meet business requirements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020824"/>
            <a:ext cx="420624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2020824"/>
            <a:ext cx="411480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Functional, Technical (Non-Functional) and Security Components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 System/solutions Design Documents (Functional, Non-functional, &amp; Security)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System/solutions Design Documents (Functional, Non-functional, &amp; Security)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System/solutions Design Documents (Functional, Non-functional, &amp; Security)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36576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27432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3337560"/>
            <a:ext cx="210312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731520" y="3337560"/>
            <a:ext cx="201168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 manage IT solutions that align with and enable business needs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88920" y="3337560"/>
            <a:ext cx="182880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2834640" y="3337560"/>
            <a:ext cx="173736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 manage IT solutions that align with and enable business needs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337560"/>
            <a:ext cx="420624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4663440" y="3337560"/>
            <a:ext cx="411480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Conduct Unit Test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 for System and UAT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| Page 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Processes: Application Management Division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6576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27432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210312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1325880"/>
            <a:ext cx="201168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second level Support on solutions/application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325880"/>
            <a:ext cx="182880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834640" y="1325880"/>
            <a:ext cx="173736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second level Support on solutions/application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20624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63440" y="1325880"/>
            <a:ext cx="411480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 escalated issues from the 1st level Support Team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escalated issues from the 1st level Support Team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Investigate the Root Cause and perform analysis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Proffer solution to the issue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 remediation on  identified vulnerability in the application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 audit observation on the application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audit observation on the application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642616"/>
            <a:ext cx="36576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" y="2642616"/>
            <a:ext cx="27432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642616"/>
            <a:ext cx="210312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1520" y="2642616"/>
            <a:ext cx="201168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proper documentation for all projects work and code development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642616"/>
            <a:ext cx="182880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834640" y="2642616"/>
            <a:ext cx="173736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proper documentation for all projects work and code development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42616"/>
            <a:ext cx="420624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2642616"/>
            <a:ext cx="411480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documentations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Documentations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Documentations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| Page 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0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9E2F7-D47A-0ECB-0E64-A9E6FEA7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96099E-5D3A-B142-57EE-4FDDB9E16607}"/>
              </a:ext>
            </a:extLst>
          </p:cNvPr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AMD Collaboration Service Office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0796DF-8C05-DCA5-D667-0B73CA0A58C0}"/>
              </a:ext>
            </a:extLst>
          </p:cNvPr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8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Work Products &amp; Activities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DB0847-3C6B-4AFC-89F4-CF26CE440D47}"/>
              </a:ext>
            </a:extLst>
          </p:cNvPr>
          <p:cNvSpPr/>
          <p:nvPr/>
        </p:nvSpPr>
        <p:spPr>
          <a:xfrm>
            <a:off x="731520" y="3017520"/>
            <a:ext cx="2286000" cy="45720"/>
          </a:xfrm>
          <a:prstGeom prst="rect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808E12-6A72-B8E5-377D-4F8F27CA1A14}"/>
              </a:ext>
            </a:extLst>
          </p:cNvPr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E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Offices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71372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Processes: Application Management Team I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6576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27432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210312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1325880"/>
            <a:ext cx="201168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Facillitate effective Requirements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325880"/>
            <a:ext cx="182880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834640" y="1325880"/>
            <a:ext cx="173736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Facillitate effective Requirements Analysis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20624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63440" y="1325880"/>
            <a:ext cx="411480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Analyze approved requirements and solution architecture documents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business and techincal Requirements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solution analysis report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020824"/>
            <a:ext cx="36576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" y="2020824"/>
            <a:ext cx="27432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020824"/>
            <a:ext cx="210312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1520" y="2020824"/>
            <a:ext cx="201168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systems/solutions that consistently meet business requirements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020824"/>
            <a:ext cx="182880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834640" y="2020824"/>
            <a:ext cx="173736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systems/solutions that consistently meet business requirements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020824"/>
            <a:ext cx="420624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2020824"/>
            <a:ext cx="411480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Functional, Technical (Non-Functional) and Security Components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 System/solutions Design Documents (Functional, Non-functional, &amp; Security)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System/solutions Design Documents (Functional, Non-functional, &amp; Security)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System/solutions Design Documents (Functional, Non-functional, &amp; Security)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36576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27432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3337560"/>
            <a:ext cx="210312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731520" y="3337560"/>
            <a:ext cx="201168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 manage IT solutions that align with and enable business needs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88920" y="3337560"/>
            <a:ext cx="182880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2834640" y="3337560"/>
            <a:ext cx="173736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 manage IT solutions that align with and enable business needs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337560"/>
            <a:ext cx="420624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4663440" y="3337560"/>
            <a:ext cx="411480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Conduct Unit Test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 for System and UAT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| Page 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Processes: Application Management Team I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6576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27432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210312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1325880"/>
            <a:ext cx="201168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second level Support on solutions/application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325880"/>
            <a:ext cx="182880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834640" y="1325880"/>
            <a:ext cx="173736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second level Support on solutions/application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20624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63440" y="1325880"/>
            <a:ext cx="411480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 escalated issues from the 1st level Support Team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escalated issues from the 1st level Support Team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Investigate the Root Cause and perform analysis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Proffer solution to the issue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 remediation on  identified vulnerability in the application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 audit observation on the application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audit observation on the application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642616"/>
            <a:ext cx="36576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" y="2642616"/>
            <a:ext cx="27432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642616"/>
            <a:ext cx="210312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1520" y="2642616"/>
            <a:ext cx="201168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proper documentation for all projects work and code development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642616"/>
            <a:ext cx="182880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834640" y="2642616"/>
            <a:ext cx="173736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proper documentation for all projects work and code development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42616"/>
            <a:ext cx="420624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2642616"/>
            <a:ext cx="411480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documentations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Documentations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Documentations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| Page 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0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1DE60-484C-A654-E7D7-CD99DE2B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419503-BF87-589D-01B5-DB7A713B596E}"/>
              </a:ext>
            </a:extLst>
          </p:cNvPr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Surveillance Services Office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F3B23B-EB48-D36B-A9B6-EB5CC53AD662}"/>
              </a:ext>
            </a:extLst>
          </p:cNvPr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8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Work Products &amp; Activities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9F2158-FB14-99C6-6895-99B80E1C8D6E}"/>
              </a:ext>
            </a:extLst>
          </p:cNvPr>
          <p:cNvSpPr/>
          <p:nvPr/>
        </p:nvSpPr>
        <p:spPr>
          <a:xfrm>
            <a:off x="731520" y="3017520"/>
            <a:ext cx="2286000" cy="45720"/>
          </a:xfrm>
          <a:prstGeom prst="rect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445489-D89D-131F-DF86-995B38440513}"/>
              </a:ext>
            </a:extLst>
          </p:cNvPr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E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Offices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78455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Processes: Business Intelligence Services Office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6576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27432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210312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1325880"/>
            <a:ext cx="201168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Facillitate effective Requirements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325880"/>
            <a:ext cx="182880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834640" y="1325880"/>
            <a:ext cx="173736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Facillitate effective Requirements Analysis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20624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63440" y="1325880"/>
            <a:ext cx="411480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Analyze approved requirements and solution architecture documents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business and techincal Requirements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solution analysis report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020824"/>
            <a:ext cx="36576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" y="2020824"/>
            <a:ext cx="27432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020824"/>
            <a:ext cx="210312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1520" y="2020824"/>
            <a:ext cx="201168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systems/solutions that consistently meet business requirements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020824"/>
            <a:ext cx="182880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834640" y="2020824"/>
            <a:ext cx="173736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systems/solutions that consistently meet business requirements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020824"/>
            <a:ext cx="420624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2020824"/>
            <a:ext cx="411480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Functional, Technical (Non-Functional) and Security Components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 System/solutions Design Documents (Functional, Non-functional, &amp; Security)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System/solutions Design Documents (Functional, Non-functional, &amp; Security)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System/solutions Design Documents (Functional, Non-functional, &amp; Security)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36576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27432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3337560"/>
            <a:ext cx="210312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731520" y="3337560"/>
            <a:ext cx="201168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 manage IT solutions that align with and enable business needs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88920" y="3337560"/>
            <a:ext cx="182880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2834640" y="3337560"/>
            <a:ext cx="173736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 manage IT solutions that align with and enable business needs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337560"/>
            <a:ext cx="420624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4663440" y="3337560"/>
            <a:ext cx="411480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Conduct Unit Test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 for System and UAT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| Page 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Processes: Business Intelligence Services Office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6576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27432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210312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1325880"/>
            <a:ext cx="201168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second level Support on solutions/application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325880"/>
            <a:ext cx="182880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834640" y="1325880"/>
            <a:ext cx="173736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second level Support on solutions/application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20624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63440" y="1325880"/>
            <a:ext cx="411480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 escalated issues from the 1st level Support Team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escalated issues from the 1st level Support Team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Investigate the Root Cause and perform analysis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Proffer solution to the issue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 remediation on  identified vulnerability in the application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 audit observation on the application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audit observation on the application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642616"/>
            <a:ext cx="36576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" y="2642616"/>
            <a:ext cx="27432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642616"/>
            <a:ext cx="210312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1520" y="2642616"/>
            <a:ext cx="201168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proper documentation for all projects work and code development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642616"/>
            <a:ext cx="182880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834640" y="2642616"/>
            <a:ext cx="173736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proper documentation for all projects work and code development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42616"/>
            <a:ext cx="420624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2642616"/>
            <a:ext cx="411480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documentations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Documentations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Documentations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| Page 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0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18868-44B2-10C6-B07C-848329C1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1EAD80-C2D8-A22C-5D1F-54E897CF4B60}"/>
              </a:ext>
            </a:extLst>
          </p:cNvPr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AMD Internal Support Services Office 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3F47F2-5610-5B2B-52CA-24730142F5EA}"/>
              </a:ext>
            </a:extLst>
          </p:cNvPr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E8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Work Products &amp; Activities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EA9F96A-CADF-13BD-F666-008764C6FAA3}"/>
              </a:ext>
            </a:extLst>
          </p:cNvPr>
          <p:cNvSpPr/>
          <p:nvPr/>
        </p:nvSpPr>
        <p:spPr>
          <a:xfrm>
            <a:off x="731520" y="3017520"/>
            <a:ext cx="2286000" cy="45720"/>
          </a:xfrm>
          <a:prstGeom prst="rect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9732A2-F10C-E6EE-E015-BF9D767CBE4B}"/>
              </a:ext>
            </a:extLst>
          </p:cNvPr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E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Offices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62627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Processes: Collaboration Services Office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6576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27432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210312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1325880"/>
            <a:ext cx="201168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Facillitate effective Requirements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325880"/>
            <a:ext cx="182880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834640" y="1325880"/>
            <a:ext cx="173736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Facillitate effective Requirements Analysis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20624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63440" y="1325880"/>
            <a:ext cx="411480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Analyze approved requirements and solution architecture documents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business and techincal Requirements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solution analysis report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020824"/>
            <a:ext cx="36576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" y="2020824"/>
            <a:ext cx="27432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020824"/>
            <a:ext cx="210312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1520" y="2020824"/>
            <a:ext cx="201168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systems/solutions that consistently meet business requirements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020824"/>
            <a:ext cx="182880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834640" y="2020824"/>
            <a:ext cx="173736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systems/solutions that consistently meet business requirements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020824"/>
            <a:ext cx="420624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2020824"/>
            <a:ext cx="411480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Functional, Technical (Non-Functional) and Security Components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 System/solutions Design Documents (Functional, Non-functional, &amp; Security)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System/solutions Design Documents (Functional, Non-functional, &amp; Security)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System/solutions Design Documents (Functional, Non-functional, &amp; Security)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36576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27432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3337560"/>
            <a:ext cx="210312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731520" y="3337560"/>
            <a:ext cx="201168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 manage IT solutions that align with and enable business needs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88920" y="3337560"/>
            <a:ext cx="182880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2834640" y="3337560"/>
            <a:ext cx="173736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 manage IT solutions that align with and enable business needs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337560"/>
            <a:ext cx="420624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4663440" y="3337560"/>
            <a:ext cx="411480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Conduct Unit Test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 for System and UAT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| Page 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Processes: Collaboration Services Office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6576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27432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210312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1325880"/>
            <a:ext cx="201168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second level Support on solutions/application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325880"/>
            <a:ext cx="182880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834640" y="1325880"/>
            <a:ext cx="173736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second level Support on solutions/application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20624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63440" y="1325880"/>
            <a:ext cx="411480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 escalated issues from the 1st level Support Team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escalated issues from the 1st level Support Team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Investigate the Root Cause and perform analysis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Proffer solution to the issue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 remediation on  identified vulnerability in the application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 audit observation on the application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audit observation on the application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642616"/>
            <a:ext cx="36576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" y="2642616"/>
            <a:ext cx="27432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642616"/>
            <a:ext cx="210312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1520" y="2642616"/>
            <a:ext cx="201168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proper documentation for all projects work and code development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642616"/>
            <a:ext cx="182880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834640" y="2642616"/>
            <a:ext cx="173736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proper documentation for all projects work and code development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42616"/>
            <a:ext cx="420624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2642616"/>
            <a:ext cx="411480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documentations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Documentations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Documentations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| Page 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0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566E1-CDBE-4521-7AC3-51C64BF2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2FE182-C177-D87D-638C-AF46B8BD1D7B}"/>
              </a:ext>
            </a:extLst>
          </p:cNvPr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and Operations Service Office</a:t>
            </a:r>
            <a:endParaRPr lang="en-US" sz="4000" dirty="0">
              <a:solidFill>
                <a:schemeClr val="accent4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F957D7-B8C0-1269-DF99-382ADE135AC2}"/>
              </a:ext>
            </a:extLst>
          </p:cNvPr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E8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Work Products &amp; Activities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CC3A93-1ABE-E3C7-B381-787ACF2D87D5}"/>
              </a:ext>
            </a:extLst>
          </p:cNvPr>
          <p:cNvSpPr/>
          <p:nvPr/>
        </p:nvSpPr>
        <p:spPr>
          <a:xfrm>
            <a:off x="731520" y="3017520"/>
            <a:ext cx="2286000" cy="45720"/>
          </a:xfrm>
          <a:prstGeom prst="rect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A476E9-D7A5-E5EB-AE26-A3A1FFA7A3CA}"/>
              </a:ext>
            </a:extLst>
          </p:cNvPr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E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Offices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58286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Processes: Financial Surveillance Services Office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6576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27432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210312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1325880"/>
            <a:ext cx="201168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Facillitate effective Requirements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325880"/>
            <a:ext cx="182880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834640" y="1325880"/>
            <a:ext cx="173736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Facillitate effective Requirements Analysis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206240" cy="694944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63440" y="1325880"/>
            <a:ext cx="4114800" cy="694944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Analyze approved requirements and solution architecture documents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business and techincal Requirements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solution analysis report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020824"/>
            <a:ext cx="36576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" y="2020824"/>
            <a:ext cx="27432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020824"/>
            <a:ext cx="210312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1520" y="2020824"/>
            <a:ext cx="201168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systems/solutions that consistently meet business requirements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020824"/>
            <a:ext cx="182880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834640" y="2020824"/>
            <a:ext cx="173736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systems/solutions that consistently meet business requirements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020824"/>
            <a:ext cx="4206240" cy="131673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2020824"/>
            <a:ext cx="411480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Functional, Technical (Non-Functional) and Security Components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 System/solutions Design Documents (Functional, Non-functional, &amp; Security)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System/solutions Design Documents (Functional, Non-functional, &amp; Security)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System/solutions Design Documents (Functional, Non-functional, &amp; Security)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36576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27432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3337560"/>
            <a:ext cx="210312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731520" y="3337560"/>
            <a:ext cx="201168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 manage IT solutions that align with and enable business needs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88920" y="3337560"/>
            <a:ext cx="182880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2834640" y="3337560"/>
            <a:ext cx="173736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 manage IT solutions that align with and enable business needs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337560"/>
            <a:ext cx="4206240" cy="850392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4663440" y="3337560"/>
            <a:ext cx="4114800" cy="850392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solution based on system design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Conduct Unit Test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 for System and UAT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| Page 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Processes: Financial Surveillance Services Office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88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solidFill>
            <a:srgbClr val="3B6B1A"/>
          </a:solidFill>
          <a:ln w="635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6576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27432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210312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1325880"/>
            <a:ext cx="201168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second level Support on solutions/application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325880"/>
            <a:ext cx="182880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834640" y="1325880"/>
            <a:ext cx="173736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second level Support on solutions/application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206240" cy="1316736"/>
          </a:xfrm>
          <a:prstGeom prst="rect">
            <a:avLst/>
          </a:prstGeom>
          <a:solidFill>
            <a:srgbClr val="E8F5E0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63440" y="1325880"/>
            <a:ext cx="4114800" cy="131673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 escalated issues from the 1st level Support Team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escalated issues from the 1st level Support Team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Investigate the Root Cause and perform analysis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Proffer solution to the issue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 remediation on  identified vulnerability in the application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 audit observation on the application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audit observation on the application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642616"/>
            <a:ext cx="36576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65760" y="2642616"/>
            <a:ext cx="27432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642616"/>
            <a:ext cx="210312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1520" y="2642616"/>
            <a:ext cx="201168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proper documentation for all projects work and code development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642616"/>
            <a:ext cx="182880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2834640" y="2642616"/>
            <a:ext cx="173736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proper documentation for all projects work and code development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42616"/>
            <a:ext cx="4206240" cy="539496"/>
          </a:xfrm>
          <a:prstGeom prst="rect">
            <a:avLst/>
          </a:prstGeom>
          <a:solidFill>
            <a:srgbClr val="F0F8EC"/>
          </a:solidFill>
          <a:ln w="3810">
            <a:solidFill>
              <a:srgbClr val="D4EDC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2642616"/>
            <a:ext cx="4114800" cy="539496"/>
          </a:xfrm>
          <a:prstGeom prst="rect">
            <a:avLst/>
          </a:prstGeom>
          <a:noFill/>
          <a:ln/>
        </p:spPr>
        <p:txBody>
          <a:bodyPr wrap="square" lIns="38100" tIns="25400" rIns="25400" bIns="381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documentations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Documentations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Documentations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| Page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a1d3bb-29aa-4602-ae2f-fc9e5eb21def}" enabled="1" method="Privileged" siteId="{9cdc7dd5-9dd6-4fbb-9a68-bcb9021721d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1655</Words>
  <Application>Microsoft Macintosh PowerPoint</Application>
  <PresentationFormat>On-screen Show (16:9)</PresentationFormat>
  <Paragraphs>286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High-Level Processes - IT Department</dc:title>
  <dc:subject>PptxGenJS Presentation</dc:subject>
  <dc:creator>IT Department</dc:creator>
  <cp:lastModifiedBy>ABDUL, SHADRACH</cp:lastModifiedBy>
  <cp:revision>5</cp:revision>
  <dcterms:created xsi:type="dcterms:W3CDTF">2026-02-24T17:31:19Z</dcterms:created>
  <dcterms:modified xsi:type="dcterms:W3CDTF">2026-02-26T14:12:30Z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3a1d3bb-29aa-4602-ae2f-fc9e5eb21def_Enabled">
    <vt:lpwstr>true</vt:lpwstr>
  </property>
  <property fmtid="{D5CDD505-2E9C-101B-9397-08002B2CF9AE}" pid="3" name="MSIP_Label_13a1d3bb-29aa-4602-ae2f-fc9e5eb21def_SetDate">
    <vt:lpwstr>2026-02-26T08:43:30Z</vt:lpwstr>
  </property>
  <property fmtid="{D5CDD505-2E9C-101B-9397-08002B2CF9AE}" pid="4" name="MSIP_Label_13a1d3bb-29aa-4602-ae2f-fc9e5eb21def_Method">
    <vt:lpwstr>Standard</vt:lpwstr>
  </property>
  <property fmtid="{D5CDD505-2E9C-101B-9397-08002B2CF9AE}" pid="5" name="MSIP_Label_13a1d3bb-29aa-4602-ae2f-fc9e5eb21def_Name">
    <vt:lpwstr>PERSONAL</vt:lpwstr>
  </property>
  <property fmtid="{D5CDD505-2E9C-101B-9397-08002B2CF9AE}" pid="6" name="MSIP_Label_13a1d3bb-29aa-4602-ae2f-fc9e5eb21def_SiteId">
    <vt:lpwstr>9cdc7dd5-9dd6-4fbb-9a68-bcb9021721d0</vt:lpwstr>
  </property>
  <property fmtid="{D5CDD505-2E9C-101B-9397-08002B2CF9AE}" pid="7" name="MSIP_Label_13a1d3bb-29aa-4602-ae2f-fc9e5eb21def_ActionId">
    <vt:lpwstr>28bc2358-f058-4a78-a359-3e0d678971dd</vt:lpwstr>
  </property>
  <property fmtid="{D5CDD505-2E9C-101B-9397-08002B2CF9AE}" pid="8" name="MSIP_Label_13a1d3bb-29aa-4602-ae2f-fc9e5eb21def_ContentBits">
    <vt:lpwstr>0</vt:lpwstr>
  </property>
</Properties>
</file>